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6844de78d49c0" /><Relationship Type="http://schemas.openxmlformats.org/officeDocument/2006/relationships/extended-properties" Target="/docProps/app.xml" Id="R6ffb78f162834545" /><Relationship Type="http://schemas.openxmlformats.org/officeDocument/2006/relationships/officeDocument" Target="/ppt/presentation.xml" Id="Rb85623d03b44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04469d83374f98"/>
  </p:sldMasterIdLst>
  <p:notesMasterIdLst>
    <p:notesMasterId xmlns:r="http://schemas.openxmlformats.org/officeDocument/2006/relationships" r:id="R4bb31cf8bd724e07"/>
  </p:notesMasterIdLst>
  <p:sldIdLst>
    <p:sldId xmlns:r="http://schemas.openxmlformats.org/officeDocument/2006/relationships" id="256" r:id="R75c332c8a1f54c94"/>
    <p:sldId xmlns:r="http://schemas.openxmlformats.org/officeDocument/2006/relationships" id="257" r:id="R18af5ea9150b4455"/>
    <p:sldId xmlns:r="http://schemas.openxmlformats.org/officeDocument/2006/relationships" id="258" r:id="R8fca4b0a5d534e7b"/>
    <p:sldId xmlns:r="http://schemas.openxmlformats.org/officeDocument/2006/relationships" id="259" r:id="R958195caa821446a"/>
    <p:sldId xmlns:r="http://schemas.openxmlformats.org/officeDocument/2006/relationships" id="260" r:id="Re8fbca4cc4924f0e"/>
    <p:sldId xmlns:r="http://schemas.openxmlformats.org/officeDocument/2006/relationships" id="261" r:id="R707109f5fbee44e5"/>
    <p:sldId xmlns:r="http://schemas.openxmlformats.org/officeDocument/2006/relationships" id="262" r:id="Rb95e5991d7ff4518"/>
    <p:sldId xmlns:r="http://schemas.openxmlformats.org/officeDocument/2006/relationships" id="263" r:id="R3f0b2e6b3bd947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b630d4e1c047f3" /><Relationship Type="http://schemas.openxmlformats.org/officeDocument/2006/relationships/slideMaster" Target="/ppt/slideMasters/slideMaster1.xml" Id="R4304469d83374f98" /><Relationship Type="http://schemas.openxmlformats.org/officeDocument/2006/relationships/notesMaster" Target="/ppt/notesMasters/notesMaster1.xml" Id="R4bb31cf8bd724e07" /><Relationship Type="http://schemas.openxmlformats.org/officeDocument/2006/relationships/presProps" Target="/ppt/presProps.xml" Id="Rf95a79f532aa4d8f" /><Relationship Type="http://schemas.openxmlformats.org/officeDocument/2006/relationships/tableStyles" Target="/ppt/tableStyles.xml" Id="R6739aab142fb4afe" /><Relationship Type="http://schemas.openxmlformats.org/officeDocument/2006/relationships/slide" Target="/ppt/slides/slide1.xml" Id="R75c332c8a1f54c94" /><Relationship Type="http://schemas.openxmlformats.org/officeDocument/2006/relationships/slide" Target="/ppt/slides/slide2.xml" Id="R18af5ea9150b4455" /><Relationship Type="http://schemas.openxmlformats.org/officeDocument/2006/relationships/slide" Target="/ppt/slides/slide3.xml" Id="R8fca4b0a5d534e7b" /><Relationship Type="http://schemas.openxmlformats.org/officeDocument/2006/relationships/slide" Target="/ppt/slides/slide4.xml" Id="R958195caa821446a" /><Relationship Type="http://schemas.openxmlformats.org/officeDocument/2006/relationships/slide" Target="/ppt/slides/slide5.xml" Id="Re8fbca4cc4924f0e" /><Relationship Type="http://schemas.openxmlformats.org/officeDocument/2006/relationships/slide" Target="/ppt/slides/slide6.xml" Id="R707109f5fbee44e5" /><Relationship Type="http://schemas.openxmlformats.org/officeDocument/2006/relationships/slide" Target="/ppt/slides/slide7.xml" Id="Rb95e5991d7ff4518" /><Relationship Type="http://schemas.openxmlformats.org/officeDocument/2006/relationships/slide" Target="/ppt/slides/slide8.xml" Id="R3f0b2e6b3bd9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d777b5b90f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8012dda6a4677" /><Relationship Type="http://schemas.openxmlformats.org/officeDocument/2006/relationships/notesMaster" Target="/ppt/notesMasters/notesMaster1.xml" Id="R10837efab879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0337c12814230" /><Relationship Type="http://schemas.openxmlformats.org/officeDocument/2006/relationships/notesMaster" Target="/ppt/notesMasters/notesMaster1.xml" Id="R7494b5e3c1c841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6699830e14d68" /><Relationship Type="http://schemas.openxmlformats.org/officeDocument/2006/relationships/notesMaster" Target="/ppt/notesMasters/notesMaster1.xml" Id="R1628f4b9ecd846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f37f7a6434967" /><Relationship Type="http://schemas.openxmlformats.org/officeDocument/2006/relationships/notesMaster" Target="/ppt/notesMasters/notesMaster1.xml" Id="R6d98e4a3336a45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e57cc04da4dd5" /><Relationship Type="http://schemas.openxmlformats.org/officeDocument/2006/relationships/notesMaster" Target="/ppt/notesMasters/notesMaster1.xml" Id="Rffaacec57a684c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ffbc6c7f3a4439" /><Relationship Type="http://schemas.openxmlformats.org/officeDocument/2006/relationships/notesMaster" Target="/ppt/notesMasters/notesMaster1.xml" Id="Rb07ef7f863ac48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c76aa0026d4bf7" /><Relationship Type="http://schemas.openxmlformats.org/officeDocument/2006/relationships/notesMaster" Target="/ppt/notesMasters/notesMaster1.xml" Id="Rcdba8c71bde347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d19fb2f464ca5" /><Relationship Type="http://schemas.openxmlformats.org/officeDocument/2006/relationships/notesMaster" Target="/ppt/notesMasters/notesMaster1.xml" Id="R043235cccd4b49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a0c77e0e3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ad5628c96646eb" /><Relationship Type="http://schemas.openxmlformats.org/officeDocument/2006/relationships/slideLayout" Target="/ppt/slideLayouts/slideLayout1.xml" Id="Rf176ac9ceecf4a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6ac9ceecf4a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329eb729d4b2b" /><Relationship Type="http://schemas.openxmlformats.org/officeDocument/2006/relationships/notesSlide" Target="/ppt/notesSlides/notesSlide1.xml" Id="R16f9fa1731734d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526f5819f4255" /><Relationship Type="http://schemas.openxmlformats.org/officeDocument/2006/relationships/notesSlide" Target="/ppt/notesSlides/notesSlide2.xml" Id="R75b949c3e86649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6409a970c4a9e" /><Relationship Type="http://schemas.openxmlformats.org/officeDocument/2006/relationships/notesSlide" Target="/ppt/notesSlides/notesSlide3.xml" Id="Rfdae8d8240054a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b8f6207254b3e" /><Relationship Type="http://schemas.openxmlformats.org/officeDocument/2006/relationships/chart" Target="/ppt/slides/charts/chart1.xml" Id="R45e0c063598c4584" /><Relationship Type="http://schemas.openxmlformats.org/officeDocument/2006/relationships/notesSlide" Target="/ppt/notesSlides/notesSlide4.xml" Id="R56c08bf658f443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509e5f52646b3" /><Relationship Type="http://schemas.openxmlformats.org/officeDocument/2006/relationships/notesSlide" Target="/ppt/notesSlides/notesSlide5.xml" Id="R9ce27bac940f4f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e8cd05ff04a3f" /><Relationship Type="http://schemas.openxmlformats.org/officeDocument/2006/relationships/notesSlide" Target="/ppt/notesSlides/notesSlide6.xml" Id="R57125b25cd99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5a809e3204c4a" /><Relationship Type="http://schemas.openxmlformats.org/officeDocument/2006/relationships/notesSlide" Target="/ppt/notesSlides/notesSlide7.xml" Id="Rd89d5aa6cc024c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894516957404d" /><Relationship Type="http://schemas.openxmlformats.org/officeDocument/2006/relationships/notesSlide" Target="/ppt/notesSlides/notesSlide8.xml" Id="R8043742de22044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Evidence rows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4"/>
              <c:pt idx="0">
                <c:v>KOICA</c:v>
              </c:pt>
              <c:pt idx="1">
                <c:v>CPS</c:v>
              </c:pt>
              <c:pt idx="2">
                <c:v>WDI</c:v>
              </c:pt>
              <c:pt idx="3">
                <c:v>Sector</c:v>
              </c:pt>
            </c:strLit>
          </c:cat>
          <c:val>
            <c:numLit>
              <c:formatCode>General</c:formatCode>
              <c:ptCount val="4"/>
              <c:pt idx="0">
                <c:v>12436</c:v>
              </c:pt>
              <c:pt idx="1">
                <c:v>806</c:v>
              </c:pt>
              <c:pt idx="2">
                <c:v>500</c:v>
              </c:pt>
              <c:pt idx="3">
                <c:v>669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243D5-7255-44BD-862B-17759B9A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K-ODA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Compass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42EDD-42AA-4546-897A-E3D33C84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외교 공공데이터를 근거 기반 ODA 사업기획서로 바꾸는 AI microservice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2A91D-B4A7-4A33-A3A4-A5F7CD29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47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712A5-D17B-4542-BB91-221825F5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KOICA + WDI + CPS PDF + Policy/Risk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RAG citation, AI검증, PDF/brief export, 배포 QR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65829-F4C4-4D4D-9199-404A71F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41529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32D3C-FFB1-449E-87EE-9270ECD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62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Raw public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5FF2-B44D-481C-88B0-3E67FAA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24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국가·분야 점수화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DA7AE-FB62-4E8F-9A56-CD40AFF2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323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85751-2DF3-4A15-AB56-2ACE6D9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CPS/KOICA/WDI 근거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6FBD5-AA23-416C-8596-A371FB1B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323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333AC-CC2E-4DDA-9CE4-F82AF680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citation 붙은 사업기획서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B7914-6EDE-481F-A50E-630F08E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Final pitch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970E8-8D0A-4362-881F-D6DA986D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45252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E8D8A-3A7F-4349-90CB-CA1E885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3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공공데이터는 열려 있지만, 사업기획은 여전히 전문가 병목입니다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01136-F61F-465F-99CC-1FD30142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3DA3-C685-4EC7-AB43-90933F0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37916-A948-45EF-A6C5-D263F43F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04D3A-E940-40F0-9416-B49F882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1D68C-2887-4AC2-AB39-9F30E3E6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953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KOICA, WDI, CPS 문서는 각각 유용하지만 따로 읽어야 합니다.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국가 선정, 분야 선정, 정책 정합성, 위험 보완 논리가 분절되어 있습니다.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공모·사업기획 현장에서는 근거가 붙은 산출물이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80243-2F22-4EAA-BA8A-7310F40D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5E0AE-8E62-45FD-A362-C7928C2A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69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판단의 빈칸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5BD7B-E58D-464C-BD55-1F2A4852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9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데이터 공개</a:t>
            </a:r>
          </a:p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해석</a:t>
            </a:r>
          </a:p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근거 연결</a:t>
            </a:r>
          </a:p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→ 제출물 작성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7D41A-8CFD-4DA8-92FC-36785706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K-ODA Compass RAG는 이 빈칸을 하나의 서비스 흐름으로 메웁니다.</a:t>
            </a:r>
          </a:p>
        </p:txBody>
      </p:sp>
    </p:spTree>
    <p:extLst>
      <p:ext uri="{BB962C8B-B14F-4D97-AF65-F5344CB8AC3E}">
        <p14:creationId xmlns:p14="http://schemas.microsoft.com/office/powerpoint/2010/main" val="689967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F7560-FC51-4610-B00A-DA17503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서비스는 Rank, Retrieve, Generate의 세 단계로 작동합니다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5D895-930A-4F9E-8251-C1D84531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0F766-1188-406F-868C-C970A1B2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2C2A0-F7D2-4350-829D-9867F18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6CF2-9E89-43B9-AD79-3BC4C26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2B87D-FFC5-4345-A595-29707C9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1. 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8E161-D16C-4B81-ADB2-D28C689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71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50개국을 개발수요, 협력기반, 분야적합도, 정책정합성, 리스크로 점수화합니다.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BC15-806D-40E1-B7A9-B476B5A6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CD144-85C8-460B-84CC-D19714F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2. Retrieve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F1A02-3268-4B4F-83E7-F386FC1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271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CPS PDF, KOICA 사업, WDI 지표, 정책·리스크 proxy에서 근거팩을 고정합니다.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29D3D-34C8-4718-944C-7DBEC5E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3C9AE-5182-4C87-9E8A-02865D1C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3. Generate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C4689-8C9E-42E6-8174-F174262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71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사업배경, 목표, 활동, KPI, 위험보완을 citation이 붙은 proposal과 brief로 출력합니다.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1523C-00BE-4CF1-9F73-DF37EE40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85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핵심은 LLM이 먼저 말하지 않는다는 점입니다. 검색된 Evidence Pack이 먼저 고정되고, 생성문은 그 근거 안에서만 움직입니다.</a:t>
            </a:r>
          </a:p>
        </p:txBody>
      </p:sp>
    </p:spTree>
    <p:extLst>
      <p:ext uri="{BB962C8B-B14F-4D97-AF65-F5344CB8AC3E}">
        <p14:creationId xmlns:p14="http://schemas.microsoft.com/office/powerpoint/2010/main" val="616072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6CAC6-C27B-4BBF-BD30-487D27E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근거 엔진은 복수 공공데이터를 citation 단위로 결합합니다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5FBAE-0139-4C60-A7BC-3CE27BF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976E-DE7F-44B6-9DB2-C280E1E2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13D45-980C-4353-AC14-F5C45EAA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DE88A-DD72-4C16-855C-A741E0C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9925D-5BE1-4A97-81C7-8A82AA2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57FC5-4BD1-4EF8-9F3B-A1D3A464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국가별 ODA 기회순위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BB843-30D1-44A7-955D-CBC0705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192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17552-7B1A-4689-B12E-0C4C24AB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12,436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D9AF2-D799-48A8-AC1B-870D7E53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622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KOICA 사업근거 2019-2024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08745-9BE4-4226-A3FC-91340A97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C86D0-3760-4FC6-A473-A4C3E18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002CA-5AA4-4DF4-9105-D3D4396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CPS PDF page-level chunk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5EC64-4D2A-4B41-813F-618ABC33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048D8-16D0-46BD-A50E-98490CC6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B4233-683D-42CA-94A7-66D3D897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WDI 최신 지표 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976EC-76AB-4734-843A-64E70D11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19250"/>
            <a:ext cx="152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98E62-41F9-4541-AB36-A49C0F14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90700"/>
            <a:ext cx="118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669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32B65-DC85-40C1-83F1-04D90E6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6220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국가·분야 포트폴리오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857250" y="3524250"/>
          <a:ext xmlns:a="http://schemas.openxmlformats.org/drawingml/2006/main" cx="4953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e0c063598c4584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A3BB9-EE6B-4915-BB9D-D81ADCB1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생성 결과에는 [E01] 형태의 citation이 남아 심사위원이 원문 근거와 판단 로직을 추적할 수 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140F1-8697-4C6A-9DDC-1196D71A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 혁신성을 ‘챗봇’이 아니라 ‘근거 고정형 생성 workflow’로 보여주는 구조입니다.</a:t>
            </a:r>
          </a:p>
        </p:txBody>
      </p:sp>
    </p:spTree>
    <p:extLst>
      <p:ext uri="{BB962C8B-B14F-4D97-AF65-F5344CB8AC3E}">
        <p14:creationId xmlns:p14="http://schemas.microsoft.com/office/powerpoint/2010/main" val="1125379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AFA35-0234-4818-BFAB-DE788E9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샘플 산출물은 실제 사용자 흐름을 보여줍니다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B8929-2387-4C2D-95CB-AAD9D22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5B4FA-5B1C-4579-948B-38AD94B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55066-3C8F-431A-AF9B-B1E9877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1C759-8FDC-4D53-8B4B-CBF3C40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11633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E056-B752-4F05-B5FC-9765E12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국가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DA643-6DA3-4181-825A-792EB977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24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1B35E-65A5-487D-BF60-8B7BE892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분야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05BA0-EFE3-4226-A571-7B1189A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출력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4242D-727B-430F-B756-341849CC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17CDB-C732-4DB7-BC81-BD4E4254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탄자니아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7316E-9E0D-4727-B92D-EB3CF3E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6E4AE-90B9-4B69-A068-CB4F75CF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공공행정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95B2E-44C2-4761-A377-819A2EE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고수요·고위험 후보의 위험보완형 사업기획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5F7B3-F216-4E23-833A-1B834F5D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solidFill>
              <a:srgbClr val="D6D6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AAE3F-F4E9-48A2-BE10-9015901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베트남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C3473-E9F3-46B5-B30B-544B54CA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24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지자체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E2601-0D41-49BE-9593-BCF93995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디지털정부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459D1-002E-4C2B-9CBF-0CD09685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정책정합·협력기반이 강한 확장형 협력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5CB12-3EB1-4367-B141-5C033CA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solidFill>
              <a:srgbClr val="D6D6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C6591-B461-4084-BF09-6DBBC56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르완다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ACC5D-9006-41D5-ACF6-7D74AD8E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90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A182D-06BE-4FC7-9714-A4C6C09A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ICT·에너지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2D378-EC10-4ED9-919B-21B0C6DB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909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우선 파일럿 후보의 민관협력 시나리오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ECA07-F3E3-4CFD-A869-D64A0E2A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각 시나리오는 proposal, 1-page brief, Evidence Pack, PDF 샘플을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179392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639A7-1D5C-4D0E-8575-F1FF119E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심사표의 핵심 축을 앱 안에서 직접 증명합니다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2ECE9-7940-474F-983F-4AB91DDC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2FA1E-0699-48F6-961B-DC95BF4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F8CD0-BA29-4944-944D-F635327B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C6C15-0956-4D03-B9E1-5505D0DD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AB063-9A52-47F5-ACBA-51313A2A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62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공공데이터 활용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D308-04C8-46A4-8CB2-D6F97901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97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복수 데이터 융합과 국가·분야별 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09083-EC96-49E0-9234-B8E62A24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7DC11-1329-4DA0-96DD-FF878C5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39585-5DFC-4BD3-923F-C43DCC6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AI 혁신성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1E802-A31E-41F3-A668-EDD8CFD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907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RAG 검색, optional LLM, 로컬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E72F9-FED8-4785-8DD2-AD9C461F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4966F-201B-4818-9CB1-F4786C1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F1F42-30AB-41CC-8DA4-37F76C4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제품 완성도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FD9CD-247D-4CD8-B589-B1881538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앱, 다운로드, QR, Docker, 샘플 산출물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53003-1221-436D-83A1-4643571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FF071-E123-46D2-A50F-C38D2360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F6807-67FB-493E-AA91-77E3B31B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검증 가능성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4EE5-5A12-4CA0-A4B6-62CCD4AB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점수 재현성, 민감도, Model/Data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8A51E-AE22-4130-A554-D72F236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6B82D-D776-4DE8-B662-E6716C63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5FEA2-CE6C-4553-AD6C-C82B341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활용 가능성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D7861-6B8F-458E-AD8C-2C2B661D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339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CSO·지자체·기업·정책팀별 시나리오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3EBD4-7D05-4BD9-AB44-FEF7696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63F00-188C-427D-BCEB-7F54AC2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769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심사위원이 묻는 질문에 대한 답이 코드, 앱 화면, 문서, 샘플 산출물에 모두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7160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DF9AA-BECE-4B2D-A892-B9DACC2F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배포까지 닫히면 로컬 데모가 아니라 실제 서비스가 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07700-8C54-43D5-B5A4-5BCEC326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A3D64-454A-4BBE-B9C1-B9B43F4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31A66-7158-4704-8D1F-353DB7D6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9976E-109B-40E5-85C0-DE550510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EE3A7-D629-4350-8E6C-0F948538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9C856-342D-4DB3-B12D-F49DAF0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코드, 데이터, 문서, 샘플, 테스트를 공개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6B3BE-311F-46E8-ADB4-7D4582BB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35D84-4C96-45F6-A02E-3909EDD5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6B35"/>
                </a:solidFill>
                <a:latin typeface="Apple SD Gothic Neo"/>
                <a:ea typeface="Apple SD Gothic Neo"/>
                <a:cs typeface="Apple SD Gothic Neo"/>
              </a:rPr>
              <a:t>Streamlit 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6A223-B848-4825-ADCC-B8636DCA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app.py entrypoint 배포, Secrets에 OPENAI_API_KEY 옵션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DF3C7-1F8C-4B5C-8E03-C7221FEE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2D86E-AC06-458A-815D-377D878A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QR / 발표자료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638FE-73B1-445E-992F-1726EFA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배포 URL과 GitHub URL을 앱, README, 덱, QR에 반영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BE1AB-0916-42DF-BF23-DA51A28D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4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상태: 로컬 제출 패키지와 git commit은 준비 완료. 외부 배포 URL은 GitHub repo 생성 후 즉시 연결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130779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EDD730-B98F-45EF-B86F-3E8EB24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71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제출물은 대시보드가 아니라</a:t>
            </a:r>
          </a:p>
          <a:p xmlns:a="http://schemas.openxmlformats.org/drawingml/2006/main">
            <a:pPr algn="l">
              <a:defRPr sz="36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근거 기반 정책 AI workflow입니다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D6B63-4D74-439B-BBF8-F415501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02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공공데이터 활용성, AI 혁신성, 서비스 완성도, 검증 가능성을 한 화면 흐름 안에서 모두 보여줍니다.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12FAA-8DCE-4B30-BFF4-F4416D4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90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0C908-FCDF-45FD-9F33-160E647A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8953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국가·분야 추천의 이유가 설명됩니다.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CPS/KOICA/WDI 근거가 citation으로 남습니다.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사업기획서, brief, evidence pack, PDF가 바로 출력됩니다.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- API 키가 없어도 데모가 유지되고, 있으면 LLM RAG로 고도화됩니다.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8ADA-2CCD-42B3-B689-D0B909E5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K-ODA Compass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54CDF-E916-4638-BA5B-D9025B7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5895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2026-07-07T11:55:55.4260000Z</dcterms:created>
  <dcterms:modified xsi:type="dcterms:W3CDTF">2026-07-07T11:55:55.4260000Z</dcterms:modified>
</coreProperties>
</file>